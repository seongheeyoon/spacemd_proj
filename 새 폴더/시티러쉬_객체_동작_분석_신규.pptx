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365D"/>
                </a:solidFill>
                <a:latin typeface="Malgun Gothic"/>
              </a:defRPr>
            </a:pPr>
            <a:r>
              <a:t>시티 러쉬 객체 및 시스템 분석 보고서</a:t>
            </a:r>
          </a:p>
          <a:p>
            <a:pPr>
              <a:spcBef>
                <a:spcPts val="2000"/>
              </a:spcBef>
              <a:defRPr sz="2000">
                <a:solidFill>
                  <a:srgbClr val="4A5568"/>
                </a:solidFill>
                <a:latin typeface="Malgun Gothic"/>
              </a:defRPr>
            </a:pPr>
            <a:r>
              <a:t>주요 등장 객체 변수 명세, 책임 범위 및 동작 프로세스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Malgun Gothic"/>
              </a:defRPr>
            </a:pPr>
            <a:r>
              <a:t>목차 (Table of 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4A5568"/>
                </a:solidFill>
                <a:latin typeface="Malgun Gothic"/>
              </a:defRPr>
            </a:pPr>
            <a:r>
              <a:t>1. 플레이어 차량 (Player Vehicle) - 물리 및 입력 제어, 체력, 수집 상태</a:t>
            </a:r>
          </a:p>
          <a:p>
            <a:pPr>
              <a:spcAft>
                <a:spcPts val="2000"/>
              </a:spcAft>
              <a:defRPr sz="1800">
                <a:solidFill>
                  <a:srgbClr val="4A5568"/>
                </a:solidFill>
                <a:latin typeface="Malgun Gothic"/>
              </a:defRPr>
            </a:pPr>
            <a:r>
              <a:t>2. 경찰 차량 (Police Vehicle) - 추적 AI 및 피격/일시정지 메커니즘</a:t>
            </a:r>
          </a:p>
          <a:p>
            <a:pPr>
              <a:spcAft>
                <a:spcPts val="2000"/>
              </a:spcAft>
              <a:defRPr sz="1800">
                <a:solidFill>
                  <a:srgbClr val="4A5568"/>
                </a:solidFill>
                <a:latin typeface="Malgun Gothic"/>
              </a:defRPr>
            </a:pPr>
            <a:r>
              <a:t>3. 키 아이템 &amp; 탈출구 (Item &amp; Goal) - 수집 연동 및 게임 클리어 조건</a:t>
            </a:r>
          </a:p>
          <a:p>
            <a:pPr>
              <a:spcAft>
                <a:spcPts val="2000"/>
              </a:spcAft>
              <a:defRPr sz="1800">
                <a:solidFill>
                  <a:srgbClr val="4A5568"/>
                </a:solidFill>
                <a:latin typeface="Malgun Gothic"/>
              </a:defRPr>
            </a:pPr>
            <a:r>
              <a:t>4. 매니저 시스템 (Managers) - 게임오버/재시작/종료 및 체력 UI 실시간 반영</a:t>
            </a:r>
          </a:p>
          <a:p>
            <a:pPr>
              <a:spcAft>
                <a:spcPts val="2000"/>
              </a:spcAft>
              <a:defRPr sz="1800">
                <a:solidFill>
                  <a:srgbClr val="4A5568"/>
                </a:solidFill>
                <a:latin typeface="Malgun Gothic"/>
              </a:defRPr>
            </a:pPr>
            <a:r>
              <a:t>5. 전체 동작 시퀀스 (Execution Sequence) - 게임 전반의 라이프사이클 흐름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Malgun Gothic"/>
              </a:defRPr>
            </a:pPr>
            <a:r>
              <a:t>1. 플레이어 차량 (Player Vehicle)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182CE"/>
                </a:solidFill>
                <a:latin typeface="Malgun Gothic"/>
              </a:defRPr>
            </a:pPr>
            <a:r>
              <a:t>■ CarController (차량 제어 및 물리 시뮬레이션)</a:t>
            </a:r>
          </a:p>
          <a:p>
            <a:pPr>
              <a:spcBef>
                <a:spcPts val="400"/>
              </a:spcBef>
              <a:defRPr sz="1400">
                <a:solidFill>
                  <a:srgbClr val="4A5568"/>
                </a:solidFill>
                <a:latin typeface="Malgun Gothic"/>
              </a:defRPr>
            </a:pPr>
            <a:r>
              <a:t>• 주요 변수: motorForce (가속도), maxSteerAngle (조향각), breakForce (제동력), spawnPoints (리스폰 위치)</a:t>
            </a:r>
          </a:p>
          <a:p>
            <a:pPr>
              <a:spcBef>
                <a:spcPts val="400"/>
              </a:spcBef>
              <a:defRPr sz="1400">
                <a:solidFill>
                  <a:srgbClr val="4A5568"/>
                </a:solidFill>
                <a:latin typeface="Malgun Gothic"/>
              </a:defRPr>
            </a:pPr>
            <a:r>
              <a:t>• 참조/동작: Update()에서 W/S/A/D 키 입력을 수집하며, FixedUpdate()에서 WheelCollider에 motorTorque 및 steerAngle 물리 연산을 적용합니다.</a:t>
            </a:r>
          </a:p>
          <a:p>
            <a:pPr>
              <a:spcBef>
                <a:spcPts val="400"/>
              </a:spcBef>
              <a:defRPr sz="1400">
                <a:solidFill>
                  <a:srgbClr val="4A5568"/>
                </a:solidFill>
                <a:latin typeface="Malgun Gothic"/>
              </a:defRPr>
            </a:pPr>
            <a:r>
              <a:t>• 리스폰 및 무적: R 키 입력 시 최단거리 스폰 지점으로 텔레포트하며, 3초간 적과의 충돌을 무시하는 GhostMode(코루틴)를 트리거합니다.</a:t>
            </a:r>
          </a:p>
          <a:p>
            <a:br/>
            <a:pPr>
              <a:spcBef>
                <a:spcPts val="1500"/>
              </a:spcBef>
              <a:defRPr b="1" sz="1800">
                <a:solidFill>
                  <a:srgbClr val="3182CE"/>
                </a:solidFill>
                <a:latin typeface="Malgun Gothic"/>
              </a:defRPr>
            </a:pPr>
            <a:r>
              <a:t>■ PlayerHP (체력 관리 및 데미지 감쇄)</a:t>
            </a:r>
          </a:p>
          <a:p>
            <a:pPr>
              <a:spcBef>
                <a:spcPts val="400"/>
              </a:spcBef>
              <a:defRPr sz="1400">
                <a:solidFill>
                  <a:srgbClr val="4A5568"/>
                </a:solidFill>
                <a:latin typeface="Malgun Gothic"/>
              </a:defRPr>
            </a:pPr>
            <a:r>
              <a:t>• 주요 변수: maxHP (최대 체력: 100), currentHP (현재 체력), invincibleTime (무적 시간: 1.0초)</a:t>
            </a:r>
          </a:p>
          <a:p>
            <a:pPr>
              <a:spcBef>
                <a:spcPts val="400"/>
              </a:spcBef>
              <a:defRPr sz="1400">
                <a:solidFill>
                  <a:srgbClr val="4A5568"/>
                </a:solidFill>
                <a:latin typeface="Malgun Gothic"/>
              </a:defRPr>
            </a:pPr>
            <a:r>
              <a:t>• 참조/동작: 경찰차와 충돌 시 TakeDamage()가 호출되어 체력을 감산하며, 피격 후 1초간 isInvincible=true 코루틴을 실행해 중복 피격을 면합니다.</a:t>
            </a:r>
          </a:p>
          <a:p>
            <a:pPr>
              <a:spcBef>
                <a:spcPts val="400"/>
              </a:spcBef>
              <a:defRPr sz="1400">
                <a:solidFill>
                  <a:srgbClr val="4A5568"/>
                </a:solidFill>
                <a:latin typeface="Malgun Gothic"/>
              </a:defRPr>
            </a:pPr>
            <a:r>
              <a:t>• 책임 범위: 체력 변경 시 UIManager에 UI 갱신을 요청하고, 체력이 0 이하가 되면 GameManager.Instance.GameOver()를 실행합니다.</a:t>
            </a:r>
          </a:p>
          <a:p>
            <a:br/>
            <a:pPr>
              <a:spcBef>
                <a:spcPts val="1500"/>
              </a:spcBef>
              <a:defRPr b="1" sz="1800">
                <a:solidFill>
                  <a:srgbClr val="3182CE"/>
                </a:solidFill>
                <a:latin typeface="Malgun Gothic"/>
              </a:defRPr>
            </a:pPr>
            <a:r>
              <a:t>■ ItemCollector (아이템 수집)</a:t>
            </a:r>
          </a:p>
          <a:p>
            <a:pPr>
              <a:spcBef>
                <a:spcPts val="400"/>
              </a:spcBef>
              <a:defRPr sz="1400">
                <a:solidFill>
                  <a:srgbClr val="4A5568"/>
                </a:solidFill>
                <a:latin typeface="Malgun Gothic"/>
              </a:defRPr>
            </a:pPr>
            <a:r>
              <a:t>• 주요 변수: goal (탈출구 오브젝트), totalItemCount (목표 수량), currentItemCount (수집 수량)</a:t>
            </a:r>
          </a:p>
          <a:p>
            <a:pPr>
              <a:spcBef>
                <a:spcPts val="400"/>
              </a:spcBef>
              <a:defRPr sz="1400">
                <a:solidFill>
                  <a:srgbClr val="4A5568"/>
                </a:solidFill>
                <a:latin typeface="Malgun Gothic"/>
              </a:defRPr>
            </a:pPr>
            <a:r>
              <a:t>• 참조/동작: 아이템 수집 시 카운트를 올려 텍스트 UI를 갱신하며, 모두 모으는 즉시 비활성화되어 있던 goal 오브젝트를 활성화시킵니다.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Malgun Gothic"/>
              </a:defRPr>
            </a:pPr>
            <a:r>
              <a:t>2. 경찰 차량 (Police Vehicle)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182CE"/>
                </a:solidFill>
                <a:latin typeface="Malgun Gothic"/>
              </a:defRPr>
            </a:pPr>
            <a:r>
              <a:t>■ EnemyChaser (적 차량 추적 AI)</a:t>
            </a:r>
          </a:p>
          <a:p>
            <a:pPr>
              <a:spcBef>
                <a:spcPts val="600"/>
              </a:spcBef>
              <a:defRPr sz="1400">
                <a:solidFill>
                  <a:srgbClr val="4A5568"/>
                </a:solidFill>
                <a:latin typeface="Malgun Gothic"/>
              </a:defRPr>
            </a:pPr>
            <a:r>
              <a:t>• 주요 변수: player (추적 타겟 Transform), agent (NavMeshAgent 컴포넌트), isPaused (일시 정지 플래그)</a:t>
            </a:r>
          </a:p>
          <a:p>
            <a:pPr>
              <a:spcBef>
                <a:spcPts val="600"/>
              </a:spcBef>
              <a:defRPr sz="1400">
                <a:solidFill>
                  <a:srgbClr val="4A5568"/>
                </a:solidFill>
                <a:latin typeface="Malgun Gothic"/>
              </a:defRPr>
            </a:pPr>
            <a:r>
              <a:t>• 실시간 추적 로직: Update()에서 플레이어 차량 위치(player.position)를 NavMeshAgent 목적지로 설정하여 지능형 최단 경로를 탐색해 다가옵니다.</a:t>
            </a:r>
          </a:p>
          <a:p>
            <a:pPr>
              <a:spcBef>
                <a:spcPts val="600"/>
              </a:spcBef>
              <a:defRPr sz="1400">
                <a:solidFill>
                  <a:srgbClr val="4A5568"/>
                </a:solidFill>
                <a:latin typeface="Malgun Gothic"/>
              </a:defRPr>
            </a:pPr>
            <a:r>
              <a:t>• 충돌 이벤트 (OnCollisionEnter): 플레이어 차량과 접촉 시 상대방의 PlayerHP.TakeDamage(10)를 호출해 10만큼 데미지를 입힙니다.</a:t>
            </a:r>
          </a:p>
          <a:p>
            <a:pPr>
              <a:spcBef>
                <a:spcPts val="600"/>
              </a:spcBef>
              <a:defRPr sz="1400">
                <a:solidFill>
                  <a:srgbClr val="4A5568"/>
                </a:solidFill>
                <a:latin typeface="Malgun Gothic"/>
              </a:defRPr>
            </a:pPr>
            <a:r>
              <a:t>• 타격 지연 (PauseChase): 플레이어에게 데미지를 입힌 후, 즉시 3초간 정지 및 대기 상태(isPaused)로 빠지며 플레이어에게 탈출 기회를 보장합니다.</a:t>
            </a:r>
          </a:p>
          <a:p>
            <a:pPr>
              <a:spcBef>
                <a:spcPts val="600"/>
              </a:spcBef>
              <a:defRPr sz="1400">
                <a:solidFill>
                  <a:srgbClr val="4A5568"/>
                </a:solidFill>
                <a:latin typeface="Malgun Gothic"/>
              </a:defRPr>
            </a:pPr>
            <a:r>
              <a:t>• 정지 예외 처리: 플레이어가 고스트 모드(IsGhostMode == true)이거나 본인이 일시 정지(isPaused) 중일 때는 agent.isStopped = true로 두고 가만히 멈춰 섭니다.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Malgun Gothic"/>
              </a:defRPr>
            </a:pPr>
            <a:r>
              <a:t>3. 키 아이템 &amp; 탈출구 (Item &amp; Goal)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182CE"/>
                </a:solidFill>
                <a:latin typeface="Malgun Gothic"/>
              </a:defRPr>
            </a:pPr>
            <a:r>
              <a:t>■ 키 아이템 (Item)</a:t>
            </a:r>
          </a:p>
          <a:p>
            <a:pPr>
              <a:spcBef>
                <a:spcPts val="400"/>
              </a:spcBef>
              <a:defRPr sz="1400">
                <a:solidFill>
                  <a:srgbClr val="4A5568"/>
                </a:solidFill>
                <a:latin typeface="Malgun Gothic"/>
              </a:defRPr>
            </a:pPr>
            <a:r>
              <a:t>• 변수 및 참조: 별도의 저장 변수 없이 Trigger 충돌 로직으로 구성됩니다.</a:t>
            </a:r>
          </a:p>
          <a:p>
            <a:pPr>
              <a:spcBef>
                <a:spcPts val="400"/>
              </a:spcBef>
              <a:defRPr sz="1400">
                <a:solidFill>
                  <a:srgbClr val="4A5568"/>
                </a:solidFill>
                <a:latin typeface="Malgun Gothic"/>
              </a:defRPr>
            </a:pPr>
            <a:r>
              <a:t>• 수집 메커니즘 (OnTriggerEnter): 플레이어 차량과 접촉 시 충돌 대상의 ItemCollector 컴포넌트를 탐색하여 CollectItem()을 간접 트리거합니다. 이후 Destroy(gameObject)를 호출하여 씬에서 자기 자신을 즉시 소멸시킵니다.</a:t>
            </a:r>
          </a:p>
          <a:p>
            <a:br/>
            <a:pPr>
              <a:spcBef>
                <a:spcPts val="2000"/>
              </a:spcBef>
              <a:defRPr b="1" sz="1800">
                <a:solidFill>
                  <a:srgbClr val="3182CE"/>
                </a:solidFill>
                <a:latin typeface="Malgun Gothic"/>
              </a:defRPr>
            </a:pPr>
            <a:r>
              <a:t>■ 탈출구 (Goal / Exit)</a:t>
            </a:r>
          </a:p>
          <a:p>
            <a:pPr>
              <a:spcBef>
                <a:spcPts val="400"/>
              </a:spcBef>
              <a:defRPr sz="1400">
                <a:solidFill>
                  <a:srgbClr val="4A5568"/>
                </a:solidFill>
                <a:latin typeface="Malgun Gothic"/>
              </a:defRPr>
            </a:pPr>
            <a:r>
              <a:t>• 주요 변수: clearPanel (성공 UI 화면 오브젝트)</a:t>
            </a:r>
          </a:p>
          <a:p>
            <a:pPr>
              <a:spcBef>
                <a:spcPts val="400"/>
              </a:spcBef>
              <a:defRPr sz="1400">
                <a:solidFill>
                  <a:srgbClr val="4A5568"/>
                </a:solidFill>
                <a:latin typeface="Malgun Gothic"/>
              </a:defRPr>
            </a:pPr>
            <a:r>
              <a:t>• 초기 조건: 게임 시작 단계에서는 비활성화(Active == false) 상태를 강제 유지하며 보이지 않습니다. 모든 아이템 수집 시에만 개방됩니다.</a:t>
            </a:r>
          </a:p>
          <a:p>
            <a:pPr>
              <a:spcBef>
                <a:spcPts val="400"/>
              </a:spcBef>
              <a:defRPr sz="1400">
                <a:solidFill>
                  <a:srgbClr val="4A5568"/>
                </a:solidFill>
                <a:latin typeface="Malgun Gothic"/>
              </a:defRPr>
            </a:pPr>
            <a:r>
              <a:t>• 클리어 트리거: 플레이어 차량이 탈출 지점에 접촉하면 ItemCollector.IsAllCollected()를 재검증합니다. 승리 조건을 충족하면 clearPanel을 활성화하고 플레이어 사운드를 정지시킨 후 Time.timeScale = 0을 설정해 전체 물리 진행을 정지시킵니다.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Malgun Gothic"/>
              </a:defRPr>
            </a:pPr>
            <a:r>
              <a:t>4. 매니저 시스템 (Managers)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182CE"/>
                </a:solidFill>
                <a:latin typeface="Malgun Gothic"/>
              </a:defRPr>
            </a:pPr>
            <a:r>
              <a:t>■ GameManager (게임 라이프사이클 관리)</a:t>
            </a:r>
          </a:p>
          <a:p>
            <a:pPr>
              <a:spcBef>
                <a:spcPts val="400"/>
              </a:spcBef>
              <a:defRPr sz="1400">
                <a:solidFill>
                  <a:srgbClr val="4A5568"/>
                </a:solidFill>
                <a:latin typeface="Malgun Gothic"/>
              </a:defRPr>
            </a:pPr>
            <a:r>
              <a:t>• 주요 변수: Instance (정적 싱글톤), gameOverPanel (실패 화면 UI)</a:t>
            </a:r>
          </a:p>
          <a:p>
            <a:pPr>
              <a:spcBef>
                <a:spcPts val="400"/>
              </a:spcBef>
              <a:defRPr sz="1400">
                <a:solidFill>
                  <a:srgbClr val="4A5568"/>
                </a:solidFill>
                <a:latin typeface="Malgun Gothic"/>
              </a:defRPr>
            </a:pPr>
            <a:r>
              <a:t>• 동작 범위: Awake()에서 전역 접근 싱글톤 인스턴스를 선언하고 보존합니다.</a:t>
            </a:r>
          </a:p>
          <a:p>
            <a:pPr>
              <a:spcBef>
                <a:spcPts val="400"/>
              </a:spcBef>
              <a:defRPr sz="1400">
                <a:solidFill>
                  <a:srgbClr val="4A5568"/>
                </a:solidFill>
                <a:latin typeface="Malgun Gothic"/>
              </a:defRPr>
            </a:pPr>
            <a:r>
              <a:t>• 상태 처리: 플레이어의 체력이 소진되어 0이 되면 호출되는 GameOver() 메서드를 통해 화면에 gameOverPanel을 노출하고 Time.timeScale = 0으로 시간 축을 멈춥니다. 또한 재시작(Restart) 시 시간 배율을 1.0f로 초기화한 뒤 씬을 리로드합니다.</a:t>
            </a:r>
          </a:p>
          <a:p>
            <a:br/>
            <a:pPr>
              <a:spcBef>
                <a:spcPts val="2000"/>
              </a:spcBef>
              <a:defRPr b="1" sz="1800">
                <a:solidFill>
                  <a:srgbClr val="3182CE"/>
                </a:solidFill>
                <a:latin typeface="Malgun Gothic"/>
              </a:defRPr>
            </a:pPr>
            <a:r>
              <a:t>■ UIManager (게임 UI 동기화)</a:t>
            </a:r>
          </a:p>
          <a:p>
            <a:pPr>
              <a:spcBef>
                <a:spcPts val="400"/>
              </a:spcBef>
              <a:defRPr sz="1400">
                <a:solidFill>
                  <a:srgbClr val="4A5568"/>
                </a:solidFill>
                <a:latin typeface="Malgun Gothic"/>
              </a:defRPr>
            </a:pPr>
            <a:r>
              <a:t>• 주요 변수: Instance (정적 싱글톤), hpSlider (체력 UI 슬라이더), hpText (체력 텍스트)</a:t>
            </a:r>
          </a:p>
          <a:p>
            <a:pPr>
              <a:spcBef>
                <a:spcPts val="400"/>
              </a:spcBef>
              <a:defRPr sz="1400">
                <a:solidFill>
                  <a:srgbClr val="4A5568"/>
                </a:solidFill>
                <a:latin typeface="Malgun Gothic"/>
              </a:defRPr>
            </a:pPr>
            <a:r>
              <a:t>• 동작 범위: 플레이어 체력(PlayerHP)의 변동(데미지 차감 등) 수치를 간접 수신하여 슬라이더 값과 텍스트를 실시간 갱신합니다.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Malgun Gothic"/>
              </a:defRPr>
            </a:pPr>
            <a:r>
              <a:t>5. 객체 작동 흐름 및 순서 (Execution Workflow)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 b="1">
                <a:solidFill>
                  <a:srgbClr val="3182CE"/>
                </a:solidFill>
                <a:latin typeface="Malgun Gothic"/>
              </a:defRPr>
            </a:pPr>
            <a:r>
              <a:t>1. 초기화 단계 [Awake / Start]</a:t>
            </a:r>
          </a:p>
          <a:p>
            <a:pPr>
              <a:spcBef>
                <a:spcPts val="200"/>
              </a:spcBef>
              <a:defRPr sz="1300">
                <a:solidFill>
                  <a:srgbClr val="4A5568"/>
                </a:solidFill>
                <a:latin typeface="Malgun Gothic"/>
              </a:defRPr>
            </a:pPr>
            <a:r>
              <a:t>   - GameManager 및 UIManager 싱글톤 선언 -&gt; 메모리 상주 및 접근 허용</a:t>
            </a:r>
          </a:p>
          <a:p>
            <a:pPr>
              <a:spcBef>
                <a:spcPts val="200"/>
              </a:spcBef>
              <a:defRPr sz="1300">
                <a:solidFill>
                  <a:srgbClr val="4A5568"/>
                </a:solidFill>
                <a:latin typeface="Malgun Gothic"/>
              </a:defRPr>
            </a:pPr>
            <a:r>
              <a:t>   - PlayerHP가 UI 매니저로 초기 체력 정보 전송 및 UI 슬라이더 초기 설정</a:t>
            </a:r>
          </a:p>
          <a:p>
            <a:pPr>
              <a:spcBef>
                <a:spcPts val="200"/>
              </a:spcBef>
              <a:defRPr sz="1300">
                <a:solidFill>
                  <a:srgbClr val="4A5568"/>
                </a:solidFill>
                <a:latin typeface="Malgun Gothic"/>
              </a:defRPr>
            </a:pPr>
            <a:r>
              <a:t>   - ItemCollector가 탈출구(Goal) 게임 오브젝트를 SetActive(false)로 은폐</a:t>
            </a:r>
          </a:p>
          <a:p>
            <a:pPr>
              <a:spcBef>
                <a:spcPts val="200"/>
              </a:spcBef>
              <a:defRPr sz="1300">
                <a:solidFill>
                  <a:srgbClr val="4A5568"/>
                </a:solidFill>
                <a:latin typeface="Malgun Gothic"/>
              </a:defRPr>
            </a:pPr>
          </a:p>
          <a:p>
            <a:pPr>
              <a:spcBef>
                <a:spcPts val="800"/>
              </a:spcBef>
              <a:defRPr sz="1300" b="1">
                <a:solidFill>
                  <a:srgbClr val="3182CE"/>
                </a:solidFill>
                <a:latin typeface="Malgun Gothic"/>
              </a:defRPr>
            </a:pPr>
            <a:r>
              <a:t>2. 플레이 프레임 업데이트 루프 [FixedUpdate / Update]</a:t>
            </a:r>
          </a:p>
          <a:p>
            <a:pPr>
              <a:spcBef>
                <a:spcPts val="200"/>
              </a:spcBef>
              <a:defRPr sz="1300">
                <a:solidFill>
                  <a:srgbClr val="4A5568"/>
                </a:solidFill>
                <a:latin typeface="Malgun Gothic"/>
              </a:defRPr>
            </a:pPr>
            <a:r>
              <a:t>   - 플레이어가 입력 제어 -&gt; CarController가 감지하여 WheelCollider에 전향/조향 적용 및 휠 모델 회전</a:t>
            </a:r>
          </a:p>
          <a:p>
            <a:pPr>
              <a:spcBef>
                <a:spcPts val="200"/>
              </a:spcBef>
              <a:defRPr sz="1300">
                <a:solidFill>
                  <a:srgbClr val="4A5568"/>
                </a:solidFill>
                <a:latin typeface="Malgun Gothic"/>
              </a:defRPr>
            </a:pPr>
            <a:r>
              <a:t>   - 속도 변화에 맞추어 주행 사운드 조율 (피치 갱신)</a:t>
            </a:r>
          </a:p>
          <a:p>
            <a:pPr>
              <a:spcBef>
                <a:spcPts val="200"/>
              </a:spcBef>
              <a:defRPr sz="1300">
                <a:solidFill>
                  <a:srgbClr val="4A5568"/>
                </a:solidFill>
                <a:latin typeface="Malgun Gothic"/>
              </a:defRPr>
            </a:pPr>
            <a:r>
              <a:t>   - 경찰 차량(EnemyChaser)이 플레이어 차량의 위치(player.position)를 추적 목표로 설정해 접근</a:t>
            </a:r>
          </a:p>
          <a:p>
            <a:pPr>
              <a:spcBef>
                <a:spcPts val="200"/>
              </a:spcBef>
              <a:defRPr sz="1300">
                <a:solidFill>
                  <a:srgbClr val="4A5568"/>
                </a:solidFill>
                <a:latin typeface="Malgun Gothic"/>
              </a:defRPr>
            </a:pPr>
          </a:p>
          <a:p>
            <a:pPr>
              <a:spcBef>
                <a:spcPts val="800"/>
              </a:spcBef>
              <a:defRPr sz="1300" b="1">
                <a:solidFill>
                  <a:srgbClr val="3182CE"/>
                </a:solidFill>
                <a:latin typeface="Malgun Gothic"/>
              </a:defRPr>
            </a:pPr>
            <a:r>
              <a:t>3. 아이템 수집 및 탈출구 개방 [Item Collision]</a:t>
            </a:r>
          </a:p>
          <a:p>
            <a:pPr>
              <a:spcBef>
                <a:spcPts val="200"/>
              </a:spcBef>
              <a:defRPr sz="1300">
                <a:solidFill>
                  <a:srgbClr val="4A5568"/>
                </a:solidFill>
                <a:latin typeface="Malgun Gothic"/>
              </a:defRPr>
            </a:pPr>
            <a:r>
              <a:t>   - 차량이 보석에 충돌 -&gt; Item.OnTriggerEnter -&gt; ItemCollector의 수집 개수 증가 및 텍스트 갱신</a:t>
            </a:r>
          </a:p>
          <a:p>
            <a:pPr>
              <a:spcBef>
                <a:spcPts val="200"/>
              </a:spcBef>
              <a:defRPr sz="1300">
                <a:solidFill>
                  <a:srgbClr val="4A5568"/>
                </a:solidFill>
                <a:latin typeface="Malgun Gothic"/>
              </a:defRPr>
            </a:pPr>
            <a:r>
              <a:t>   - 수집 목표량 충족 시 탈출구(Goal) 활성화 (SetActive(true))</a:t>
            </a:r>
          </a:p>
          <a:p>
            <a:pPr>
              <a:spcBef>
                <a:spcPts val="200"/>
              </a:spcBef>
              <a:defRPr sz="1300">
                <a:solidFill>
                  <a:srgbClr val="4A5568"/>
                </a:solidFill>
                <a:latin typeface="Malgun Gothic"/>
              </a:defRPr>
            </a:pPr>
          </a:p>
          <a:p>
            <a:pPr>
              <a:spcBef>
                <a:spcPts val="800"/>
              </a:spcBef>
              <a:defRPr sz="1300" b="1">
                <a:solidFill>
                  <a:srgbClr val="3182CE"/>
                </a:solidFill>
                <a:latin typeface="Malgun Gothic"/>
              </a:defRPr>
            </a:pPr>
            <a:r>
              <a:t>4. 게임오버 / 게임클리어 분기 [Game Ends]</a:t>
            </a:r>
          </a:p>
          <a:p>
            <a:pPr>
              <a:spcBef>
                <a:spcPts val="200"/>
              </a:spcBef>
              <a:defRPr sz="1300">
                <a:solidFill>
                  <a:srgbClr val="4A5568"/>
                </a:solidFill>
                <a:latin typeface="Malgun Gothic"/>
              </a:defRPr>
            </a:pPr>
            <a:r>
              <a:t>   - 실패 분기: 경찰차 충돌 시 PlayerHP.TakeDamage(10) -&gt; 체력 0 도달 시 GameManager.GameOver() 트리거 및 물리 정지</a:t>
            </a:r>
          </a:p>
          <a:p>
            <a:pPr>
              <a:spcBef>
                <a:spcPts val="200"/>
              </a:spcBef>
              <a:defRPr sz="1300">
                <a:solidFill>
                  <a:srgbClr val="4A5568"/>
                </a:solidFill>
                <a:latin typeface="Malgun Gothic"/>
              </a:defRPr>
            </a:pPr>
            <a:r>
              <a:t>   - 성공 분기: 모든 아이템 획득 후 Goal 통과 -&gt; Goal.OnTriggerEnter -&gt; clearPanel 활성화 및 차량 사운드 오프, 물리 정지</a:t>
            </a:r>
          </a:p>
          <a:p>
            <a:pPr>
              <a:spcBef>
                <a:spcPts val="200"/>
              </a:spcBef>
              <a:defRPr sz="1300">
                <a:solidFill>
                  <a:srgbClr val="4A5568"/>
                </a:solidFill>
                <a:latin typeface="Malgun Gothic"/>
              </a:defRPr>
            </a:pPr>
            <a:r>
              <a:t>   - 피격 예외: 피격 시 플레이어는 1초 무적, 경찰차는 3초 정지하여 즉사/연속 피격 방지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