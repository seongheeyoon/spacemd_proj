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1" r:id="rId3"/>
    <p:sldId id="277" r:id="rId4"/>
    <p:sldId id="273" r:id="rId5"/>
    <p:sldId id="274" r:id="rId6"/>
    <p:sldId id="26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-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A216E-AF12-48BE-AD8A-89E4CD87635E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2F2BE-F470-4144-8AEA-2EB60D8F1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97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96376-A4D9-549F-9AD3-2F6CF563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E13B2A-36AC-D319-EEF0-9B0AAF181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49CE5-82FE-12D2-EC08-C5B5DC0D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95B7A-516C-DE44-D0D1-22865708C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24E92-BD9A-4F94-BC93-09581E9A21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23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CB96E-499C-D79F-0B07-EB13D84E3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B0342B-5BC4-1CCF-2BB8-F8199364F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D6502-9D70-9B2B-BEBE-FE865E74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66510-B04A-FD5A-968C-E3B84E2E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DE7F2-9DB0-F89D-75F3-78728FF8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87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62DD5-1C53-53F6-D2F0-76AD0AED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01963-82A6-8419-7C5C-C0D2F200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1AE49-AC1E-B1C0-CDFA-AC7AC60C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B22B4-C4D6-0548-0690-E6007D087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DF415-48EC-A151-8FF0-27CBF347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683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8201-5647-DDF0-83B6-6B798BA6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4ED25-0A90-2585-7367-FC2B1D32F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E4B1C-437C-3B7F-79CF-24193BB3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B4E82-2C49-8A6C-1395-8761826F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FE606-BF67-8C4F-B76A-01A8985D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090E2-C294-AC8E-8548-5B178BD8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1AA88-1B39-255A-FEE3-88599B5F5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6968EC-90C1-1F31-F120-B1102D7A8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B9434C-D616-F77D-935B-82D7D499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3A7884-5914-366B-0857-E36EA5CB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4D6898-1104-D187-51D2-055557BB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62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BCFDD-012B-453C-455D-2B9C2C91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0BEF22-DF60-B324-B9C0-D4797B21C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840500-42EB-243B-A540-E9E0B189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8E376-68C0-62FB-DB9F-CA7CDAD9A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4B111F-47F9-8863-34A3-AAC44D6D96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D4A37-68E2-D00C-F650-13998A0F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BB1404-D843-B07A-D44D-295600059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43E2928-E970-9AA6-EDEB-BB9691B4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7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2238B-434D-3CF6-69E6-C5633A466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E6105A-2C02-AD53-D455-65BC187A5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916C44-A194-78BD-2E1E-2CAD5F4A9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3DAB30-9F44-C591-8C77-46EAB092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4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8F5A50-901C-3464-EE50-0FB758F2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196ADF-E4DF-0370-4593-B1A78D13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61977-7379-A911-3C60-1FE25DAA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839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1AB8C-A8BD-FE6F-EC5E-FFC2ACF4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51865-E0E1-CDCE-6926-01DE73727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33780C-7F09-C28C-CEC8-2B730E831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074D37-874F-C18C-C947-75DC5D7D1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8722D-A011-C0B7-6250-5316AAB6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5980F7-6907-FD44-91E8-307BD9DB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0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ED635-E855-A629-3B3D-32124849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6DBC27-9AE4-1E85-FBDE-2E6053F7F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BEA3F8-ADC5-A07D-5829-F0BD63A33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E217D6-13A9-1797-E170-79CF32B6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091B5-C4C5-A729-3757-D86FA6E1E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D94E94-B1AD-C8E9-0ECB-AFA532D3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00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B98EC-966D-74E1-17B7-3F60A92A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28A0E2-9D2F-D5C5-B87B-5C6D85DF3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7CF32-8A09-87AB-9F27-121E1724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9DA8F9-04C6-0CFE-BE5A-A53FECD9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6A2287-9A43-FF5E-AFC3-89D086217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4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077D52-E4F8-91E7-BC75-139F58809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AAA355-C409-552A-FB46-1FDFF8B8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A76B2-FA1E-F6FF-B682-317A9364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3D6B7-2E92-F277-9A9C-277EBEC8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7F39A-4BD5-099D-E26E-7BB95A6D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16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2188EA-535C-45AB-7A53-9928ED57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332C05-E05C-44BB-A249-37C80FA3B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10717-45F2-5C5A-A91C-E69D9D18A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82A2E-42A4-471A-9A82-49680803298A}" type="datetimeFigureOut">
              <a:rPr lang="ko-KR" altLang="en-US" smtClean="0"/>
              <a:t>2026-07-13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3C3DB-B92E-AC02-69FC-97A53893D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0ED7DF-B257-CAF7-A704-45D007384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6EEB8-CA86-4AD4-B0BB-6D28BE2856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930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A4468-360A-E483-2D83-69F2FE37D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Cebu(</a:t>
            </a:r>
            <a:r>
              <a:rPr lang="ko-KR" altLang="en-US" dirty="0" err="1"/>
              <a:t>관광지아님</a:t>
            </a:r>
            <a:r>
              <a:rPr lang="en-US" altLang="ko-KR" dirty="0"/>
              <a:t>) </a:t>
            </a:r>
            <a:r>
              <a:rPr lang="ko-KR" altLang="en-US" dirty="0"/>
              <a:t>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8E5CF5-1855-AEB0-8274-B72B3986AC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씨</a:t>
            </a:r>
            <a:r>
              <a:rPr lang="en-US" altLang="ko-KR" dirty="0"/>
              <a:t>-</a:t>
            </a:r>
            <a:r>
              <a:rPr lang="ko-KR" altLang="en-US" dirty="0"/>
              <a:t>티 러쉬</a:t>
            </a:r>
          </a:p>
        </p:txBody>
      </p:sp>
    </p:spTree>
    <p:extLst>
      <p:ext uri="{BB962C8B-B14F-4D97-AF65-F5344CB8AC3E}">
        <p14:creationId xmlns:p14="http://schemas.microsoft.com/office/powerpoint/2010/main" val="214441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CAC4-68FA-C757-AE5B-2FAEF1A7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7DEC2094-1A5F-D6AA-BF8A-099B7CBB4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DE0447E-0D86-CBC8-C2D6-69B3E1DE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C128BFA1-C4EA-D6CF-2053-DB62F918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9F2C277-803B-53DE-D89A-DC120B782B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49F41E-89E0-BF4B-AF00-C93A6875972E}"/>
              </a:ext>
            </a:extLst>
          </p:cNvPr>
          <p:cNvSpPr/>
          <p:nvPr/>
        </p:nvSpPr>
        <p:spPr>
          <a:xfrm rot="5400000" flipV="1">
            <a:off x="1001955" y="1018608"/>
            <a:ext cx="440696" cy="50953"/>
          </a:xfrm>
          <a:prstGeom prst="roundRect">
            <a:avLst>
              <a:gd name="adj" fmla="val 329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6DF5204-1ADF-DE9C-AC89-43C19B2C87FA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9B2010-C7B5-5F1D-1F6B-0D1261CE71BA}"/>
              </a:ext>
            </a:extLst>
          </p:cNvPr>
          <p:cNvCxnSpPr/>
          <p:nvPr/>
        </p:nvCxnSpPr>
        <p:spPr>
          <a:xfrm>
            <a:off x="1500187" y="1743075"/>
            <a:ext cx="919162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FC4A95-8AEB-03E5-E315-710C5E9893ED}"/>
              </a:ext>
            </a:extLst>
          </p:cNvPr>
          <p:cNvSpPr txBox="1"/>
          <p:nvPr/>
        </p:nvSpPr>
        <p:spPr>
          <a:xfrm>
            <a:off x="2177533" y="515687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게임 플레이 기획서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2040B4-F191-46D8-EBC3-0E72EA0885AC}"/>
              </a:ext>
            </a:extLst>
          </p:cNvPr>
          <p:cNvSpPr txBox="1"/>
          <p:nvPr/>
        </p:nvSpPr>
        <p:spPr>
          <a:xfrm>
            <a:off x="2501901" y="990715"/>
            <a:ext cx="391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메인 기획서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1529C-E5CA-B45C-87FF-88AEC6E3F143}"/>
              </a:ext>
            </a:extLst>
          </p:cNvPr>
          <p:cNvSpPr txBox="1"/>
          <p:nvPr/>
        </p:nvSpPr>
        <p:spPr>
          <a:xfrm>
            <a:off x="2177531" y="4333467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추적 차량 기획서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068BD-382B-6669-CF61-712E12A2E293}"/>
              </a:ext>
            </a:extLst>
          </p:cNvPr>
          <p:cNvSpPr txBox="1"/>
          <p:nvPr/>
        </p:nvSpPr>
        <p:spPr>
          <a:xfrm>
            <a:off x="2177530" y="3481773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조작 기획서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351C240-6317-7B9E-2211-49BC087B266A}"/>
              </a:ext>
            </a:extLst>
          </p:cNvPr>
          <p:cNvSpPr/>
          <p:nvPr/>
        </p:nvSpPr>
        <p:spPr>
          <a:xfrm>
            <a:off x="1861251" y="3584298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748A34-A57A-2D38-B2C8-EE32560D1258}"/>
              </a:ext>
            </a:extLst>
          </p:cNvPr>
          <p:cNvSpPr txBox="1"/>
          <p:nvPr/>
        </p:nvSpPr>
        <p:spPr>
          <a:xfrm>
            <a:off x="1871934" y="3533547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CBB477E-6EE0-22E5-ADC7-232ABC9432B1}"/>
              </a:ext>
            </a:extLst>
          </p:cNvPr>
          <p:cNvSpPr/>
          <p:nvPr/>
        </p:nvSpPr>
        <p:spPr>
          <a:xfrm>
            <a:off x="1861251" y="4460552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4312EC-DB8B-B36A-4BE8-FAE7FE2FDBF3}"/>
              </a:ext>
            </a:extLst>
          </p:cNvPr>
          <p:cNvSpPr txBox="1"/>
          <p:nvPr/>
        </p:nvSpPr>
        <p:spPr>
          <a:xfrm>
            <a:off x="1890984" y="4409801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D94E8DF-77C2-1B09-098E-E5A258B420E4}"/>
              </a:ext>
            </a:extLst>
          </p:cNvPr>
          <p:cNvSpPr/>
          <p:nvPr/>
        </p:nvSpPr>
        <p:spPr>
          <a:xfrm>
            <a:off x="1861251" y="5258439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A5DBB1-C673-5E1F-570C-A612F133608C}"/>
              </a:ext>
            </a:extLst>
          </p:cNvPr>
          <p:cNvSpPr txBox="1"/>
          <p:nvPr/>
        </p:nvSpPr>
        <p:spPr>
          <a:xfrm>
            <a:off x="1871934" y="5207688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BC8DAF-1A00-089A-6607-859ABD9338B5}"/>
              </a:ext>
            </a:extLst>
          </p:cNvPr>
          <p:cNvSpPr txBox="1"/>
          <p:nvPr/>
        </p:nvSpPr>
        <p:spPr>
          <a:xfrm>
            <a:off x="3384058" y="3854335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방법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B34E8B5-540F-748C-23A9-E13A1E938383}"/>
              </a:ext>
            </a:extLst>
          </p:cNvPr>
          <p:cNvCxnSpPr>
            <a:cxnSpLocks/>
          </p:cNvCxnSpPr>
          <p:nvPr/>
        </p:nvCxnSpPr>
        <p:spPr>
          <a:xfrm flipV="1">
            <a:off x="4614350" y="3949615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1ED083-DF64-9F77-E55B-F747AD5417D6}"/>
              </a:ext>
            </a:extLst>
          </p:cNvPr>
          <p:cNvSpPr txBox="1"/>
          <p:nvPr/>
        </p:nvSpPr>
        <p:spPr>
          <a:xfrm>
            <a:off x="4674150" y="3845286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 구조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3408F7-FF62-3CF5-FC43-8CF771DB2657}"/>
              </a:ext>
            </a:extLst>
          </p:cNvPr>
          <p:cNvSpPr txBox="1"/>
          <p:nvPr/>
        </p:nvSpPr>
        <p:spPr>
          <a:xfrm>
            <a:off x="2427308" y="4702091"/>
            <a:ext cx="1211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차량 규격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38F686D-F6BC-F61C-567A-CBC1D9389548}"/>
              </a:ext>
            </a:extLst>
          </p:cNvPr>
          <p:cNvCxnSpPr>
            <a:cxnSpLocks/>
          </p:cNvCxnSpPr>
          <p:nvPr/>
        </p:nvCxnSpPr>
        <p:spPr>
          <a:xfrm flipV="1">
            <a:off x="3689535" y="4797371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EDF6D72-C4F9-5E90-71CA-DE96A0F6F68F}"/>
              </a:ext>
            </a:extLst>
          </p:cNvPr>
          <p:cNvSpPr txBox="1"/>
          <p:nvPr/>
        </p:nvSpPr>
        <p:spPr>
          <a:xfrm>
            <a:off x="3747503" y="4693042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추적 방법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CC777-432D-B48C-8691-A2D0C080655E}"/>
              </a:ext>
            </a:extLst>
          </p:cNvPr>
          <p:cNvSpPr txBox="1"/>
          <p:nvPr/>
        </p:nvSpPr>
        <p:spPr>
          <a:xfrm>
            <a:off x="2446357" y="3851834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조작키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E012D0F-71C1-06ED-4197-E6E776147D13}"/>
              </a:ext>
            </a:extLst>
          </p:cNvPr>
          <p:cNvCxnSpPr>
            <a:cxnSpLocks/>
          </p:cNvCxnSpPr>
          <p:nvPr/>
        </p:nvCxnSpPr>
        <p:spPr>
          <a:xfrm flipV="1">
            <a:off x="3374330" y="3947114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C44617-20D0-3B98-5B76-8844ED5F3CC0}"/>
              </a:ext>
            </a:extLst>
          </p:cNvPr>
          <p:cNvSpPr txBox="1"/>
          <p:nvPr/>
        </p:nvSpPr>
        <p:spPr>
          <a:xfrm>
            <a:off x="2446357" y="5530378"/>
            <a:ext cx="198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클리어 조건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188637-2AE7-D033-6CC1-DF492EE34F83}"/>
              </a:ext>
            </a:extLst>
          </p:cNvPr>
          <p:cNvCxnSpPr>
            <a:cxnSpLocks/>
          </p:cNvCxnSpPr>
          <p:nvPr/>
        </p:nvCxnSpPr>
        <p:spPr>
          <a:xfrm flipV="1">
            <a:off x="448527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281B39-8A64-51CB-E25E-510C54BFD40E}"/>
              </a:ext>
            </a:extLst>
          </p:cNvPr>
          <p:cNvSpPr txBox="1"/>
          <p:nvPr/>
        </p:nvSpPr>
        <p:spPr>
          <a:xfrm>
            <a:off x="4543239" y="5521329"/>
            <a:ext cx="18215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게임 오버 조건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5C0F113-7CAC-B646-EF65-5471BA129CCE}"/>
              </a:ext>
            </a:extLst>
          </p:cNvPr>
          <p:cNvCxnSpPr>
            <a:cxnSpLocks/>
          </p:cNvCxnSpPr>
          <p:nvPr/>
        </p:nvCxnSpPr>
        <p:spPr>
          <a:xfrm flipV="1">
            <a:off x="6306854" y="5634707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CBE67D-DB02-9574-B6B5-BF0C11FA2B57}"/>
              </a:ext>
            </a:extLst>
          </p:cNvPr>
          <p:cNvSpPr txBox="1"/>
          <p:nvPr/>
        </p:nvSpPr>
        <p:spPr>
          <a:xfrm>
            <a:off x="6364822" y="5530378"/>
            <a:ext cx="13197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무적 시간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7C383CD-0E1D-291B-B213-796B74D88401}"/>
              </a:ext>
            </a:extLst>
          </p:cNvPr>
          <p:cNvCxnSpPr>
            <a:cxnSpLocks/>
          </p:cNvCxnSpPr>
          <p:nvPr/>
        </p:nvCxnSpPr>
        <p:spPr>
          <a:xfrm flipV="1">
            <a:off x="7626652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BE9E2E-6A51-ABBA-F7F2-B1069628181B}"/>
              </a:ext>
            </a:extLst>
          </p:cNvPr>
          <p:cNvSpPr txBox="1"/>
          <p:nvPr/>
        </p:nvSpPr>
        <p:spPr>
          <a:xfrm>
            <a:off x="7684620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리스폰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 시스템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C613877-1660-E04B-BDD8-14FBDDFA6EA3}"/>
              </a:ext>
            </a:extLst>
          </p:cNvPr>
          <p:cNvCxnSpPr>
            <a:cxnSpLocks/>
          </p:cNvCxnSpPr>
          <p:nvPr/>
        </p:nvCxnSpPr>
        <p:spPr>
          <a:xfrm flipV="1">
            <a:off x="9363074" y="5625658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1DD91D-4204-FF3E-D452-05D58985F5C4}"/>
              </a:ext>
            </a:extLst>
          </p:cNvPr>
          <p:cNvSpPr txBox="1"/>
          <p:nvPr/>
        </p:nvSpPr>
        <p:spPr>
          <a:xfrm>
            <a:off x="9421042" y="5521329"/>
            <a:ext cx="166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키 아이템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D8079-FA41-24A4-7D4D-27B11EE97B3F}"/>
              </a:ext>
            </a:extLst>
          </p:cNvPr>
          <p:cNvSpPr txBox="1"/>
          <p:nvPr/>
        </p:nvSpPr>
        <p:spPr>
          <a:xfrm>
            <a:off x="2177530" y="2622648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운행 기획서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250D271-35A2-008C-3B89-8D4FB0EE4689}"/>
              </a:ext>
            </a:extLst>
          </p:cNvPr>
          <p:cNvSpPr/>
          <p:nvPr/>
        </p:nvSpPr>
        <p:spPr>
          <a:xfrm>
            <a:off x="1861251" y="2725173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EA2CF4-1DE4-23E7-5168-D00F81639508}"/>
              </a:ext>
            </a:extLst>
          </p:cNvPr>
          <p:cNvSpPr txBox="1"/>
          <p:nvPr/>
        </p:nvSpPr>
        <p:spPr>
          <a:xfrm>
            <a:off x="1871934" y="2674422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A105EA-53E5-4CCE-F4D0-47CF99F13CEF}"/>
              </a:ext>
            </a:extLst>
          </p:cNvPr>
          <p:cNvSpPr txBox="1"/>
          <p:nvPr/>
        </p:nvSpPr>
        <p:spPr>
          <a:xfrm>
            <a:off x="3689535" y="2995210"/>
            <a:ext cx="1354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사륜구동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6993CF-A4E7-3465-67B2-96FAB02A7952}"/>
              </a:ext>
            </a:extLst>
          </p:cNvPr>
          <p:cNvCxnSpPr>
            <a:cxnSpLocks/>
          </p:cNvCxnSpPr>
          <p:nvPr/>
        </p:nvCxnSpPr>
        <p:spPr>
          <a:xfrm flipV="1">
            <a:off x="4832898" y="3090490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336242B-9936-44C6-AA3B-C69B5776BE97}"/>
              </a:ext>
            </a:extLst>
          </p:cNvPr>
          <p:cNvSpPr txBox="1"/>
          <p:nvPr/>
        </p:nvSpPr>
        <p:spPr>
          <a:xfrm>
            <a:off x="4892698" y="2986161"/>
            <a:ext cx="2235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서스펜션 시스템</a:t>
            </a:r>
            <a:endParaRPr lang="ko-KR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333CBC-027D-5B62-FCA8-E3F4E18648CE}"/>
              </a:ext>
            </a:extLst>
          </p:cNvPr>
          <p:cNvSpPr txBox="1"/>
          <p:nvPr/>
        </p:nvSpPr>
        <p:spPr>
          <a:xfrm>
            <a:off x="2446357" y="2992709"/>
            <a:ext cx="1354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운행 원리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EC3B17F-01F7-BB26-67E7-EF73CF319F83}"/>
              </a:ext>
            </a:extLst>
          </p:cNvPr>
          <p:cNvCxnSpPr>
            <a:cxnSpLocks/>
          </p:cNvCxnSpPr>
          <p:nvPr/>
        </p:nvCxnSpPr>
        <p:spPr>
          <a:xfrm flipV="1">
            <a:off x="3667122" y="3087989"/>
            <a:ext cx="0" cy="200055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8ED89AF-7638-1A32-82A2-28C2374B8BFC}"/>
              </a:ext>
            </a:extLst>
          </p:cNvPr>
          <p:cNvSpPr txBox="1"/>
          <p:nvPr/>
        </p:nvSpPr>
        <p:spPr>
          <a:xfrm>
            <a:off x="2177533" y="1993530"/>
            <a:ext cx="391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문서 구조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E3A3276-A607-FFDD-8794-29858514AE3C}"/>
              </a:ext>
            </a:extLst>
          </p:cNvPr>
          <p:cNvSpPr/>
          <p:nvPr/>
        </p:nvSpPr>
        <p:spPr>
          <a:xfrm>
            <a:off x="1861254" y="2096055"/>
            <a:ext cx="350520" cy="262890"/>
          </a:xfrm>
          <a:prstGeom prst="roundRect">
            <a:avLst>
              <a:gd name="adj" fmla="val 32972"/>
            </a:avLst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0F7ECA-E648-FD96-E949-494D462A125C}"/>
              </a:ext>
            </a:extLst>
          </p:cNvPr>
          <p:cNvSpPr txBox="1"/>
          <p:nvPr/>
        </p:nvSpPr>
        <p:spPr>
          <a:xfrm>
            <a:off x="1871937" y="2045304"/>
            <a:ext cx="536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6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6586-66BF-4996-AFCA-34B3E33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91B89776-05EB-C061-0CFC-191D366F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0C57C8E-A186-8C85-5C35-428FCB709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8253280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 구조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문서 구조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0D862-F4EC-09CF-F6F5-691EEF8D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450" y="7489049"/>
            <a:ext cx="3667125" cy="4351338"/>
          </a:xfrm>
        </p:spPr>
        <p:txBody>
          <a:bodyPr/>
          <a:lstStyle/>
          <a:p>
            <a:pPr lvl="1"/>
            <a:r>
              <a:rPr lang="en-US" altLang="ko-KR" dirty="0"/>
              <a:t>4</a:t>
            </a:r>
            <a:r>
              <a:rPr lang="ko-KR" altLang="en-US" dirty="0" err="1"/>
              <a:t>륜구동</a:t>
            </a:r>
            <a:r>
              <a:rPr lang="ko-KR" altLang="en-US" dirty="0"/>
              <a:t> </a:t>
            </a:r>
            <a:r>
              <a:rPr lang="en-US" altLang="ko-KR" dirty="0"/>
              <a:t>– 4</a:t>
            </a:r>
            <a:r>
              <a:rPr lang="ko-KR" altLang="en-US" dirty="0"/>
              <a:t>개의 바퀴가 함께 움직임</a:t>
            </a:r>
            <a:endParaRPr lang="en-US" altLang="ko-KR" dirty="0"/>
          </a:p>
          <a:p>
            <a:pPr lvl="1"/>
            <a:r>
              <a:rPr lang="ko-KR" altLang="en-US" dirty="0"/>
              <a:t>바퀴 한두개가 끼어도 탈출 가능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B55601BA-E48F-FB54-F916-A4D1D31D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-295274" y="5600700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8FC8193-DC32-95F7-7098-35C8B9DAC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55D3681-0C69-5916-1793-D00B4FDEED1A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C8E5AE-99D3-BE6B-E0B7-B8A014F8579C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CC5CC3-48E7-9055-0EDA-9EE76D40EA10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62860DE-4F63-D4AD-2DD8-EE95F5CD7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321" y="1631900"/>
            <a:ext cx="8844508" cy="509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7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FED3FD5C-3080-F9BF-8B54-DD26330AA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C90EB8F-9C71-B46B-239C-B562C8D74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7120824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차량 조작 시스템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운행 원리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2C28C7C7-3C6D-98FE-4958-0ED6073408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2511426" y="8216965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2B87CB4-483B-9C10-2188-89158D95F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E3B6DCE-1F78-32AB-2395-8C20D30342D1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9AC39-FFDE-7B58-618D-3884C1938EC4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0E815CB-2116-801A-A7F0-07E4204593A4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024624F-D4FD-F0B1-B7B7-0C38F79AB398}"/>
              </a:ext>
            </a:extLst>
          </p:cNvPr>
          <p:cNvGrpSpPr/>
          <p:nvPr/>
        </p:nvGrpSpPr>
        <p:grpSpPr>
          <a:xfrm>
            <a:off x="1683973" y="1597455"/>
            <a:ext cx="2990530" cy="2756335"/>
            <a:chOff x="1375476" y="1498694"/>
            <a:chExt cx="3221924" cy="2969608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E0E79AF-9DFD-DC18-F423-38A80D71A61A}"/>
                </a:ext>
              </a:extLst>
            </p:cNvPr>
            <p:cNvSpPr/>
            <p:nvPr/>
          </p:nvSpPr>
          <p:spPr>
            <a:xfrm>
              <a:off x="1779694" y="1763343"/>
              <a:ext cx="2451117" cy="2451117"/>
            </a:xfrm>
            <a:prstGeom prst="ellipse">
              <a:avLst/>
            </a:prstGeom>
            <a:noFill/>
            <a:ln w="165100">
              <a:solidFill>
                <a:srgbClr val="7A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81D3C87-671B-DE50-83CA-29C71834CF20}"/>
                </a:ext>
              </a:extLst>
            </p:cNvPr>
            <p:cNvCxnSpPr>
              <a:stCxn id="40" idx="3"/>
              <a:endCxn id="40" idx="7"/>
            </p:cNvCxnSpPr>
            <p:nvPr/>
          </p:nvCxnSpPr>
          <p:spPr>
            <a:xfrm flipV="1">
              <a:off x="2138652" y="2122301"/>
              <a:ext cx="1733201" cy="1733201"/>
            </a:xfrm>
            <a:prstGeom prst="line">
              <a:avLst/>
            </a:prstGeom>
            <a:ln w="165100">
              <a:solidFill>
                <a:srgbClr val="7A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673AEDCF-2440-9D5F-75DF-903D932ED581}"/>
                </a:ext>
              </a:extLst>
            </p:cNvPr>
            <p:cNvGrpSpPr/>
            <p:nvPr/>
          </p:nvGrpSpPr>
          <p:grpSpPr>
            <a:xfrm>
              <a:off x="1375476" y="1498694"/>
              <a:ext cx="3221924" cy="2969608"/>
              <a:chOff x="1375476" y="1964342"/>
              <a:chExt cx="3221924" cy="2969608"/>
            </a:xfrm>
          </p:grpSpPr>
          <p:pic>
            <p:nvPicPr>
              <p:cNvPr id="13" name="그림 12" descr="자동차 - 무료 수송개 아이콘">
                <a:extLst>
                  <a:ext uri="{FF2B5EF4-FFF2-40B4-BE49-F238E27FC236}">
                    <a16:creationId xmlns:a16="http://schemas.microsoft.com/office/drawing/2014/main" id="{902A326F-10DD-6FD6-B3E8-5243B9CBDD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30346"/>
              <a:stretch>
                <a:fillRect/>
              </a:stretch>
            </p:blipFill>
            <p:spPr>
              <a:xfrm flipH="1">
                <a:off x="1375476" y="1964342"/>
                <a:ext cx="3221924" cy="2157838"/>
              </a:xfrm>
              <a:prstGeom prst="rect">
                <a:avLst/>
              </a:prstGeom>
            </p:spPr>
          </p:pic>
          <p:pic>
            <p:nvPicPr>
              <p:cNvPr id="16" name="그림 15" descr="오른쪽 화살표 - 무료 화살개 아이콘">
                <a:extLst>
                  <a:ext uri="{FF2B5EF4-FFF2-40B4-BE49-F238E27FC236}">
                    <a16:creationId xmlns:a16="http://schemas.microsoft.com/office/drawing/2014/main" id="{7CE919FF-0A24-B4A0-5B8C-706737C686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flipH="1">
                <a:off x="1779694" y="3702654"/>
                <a:ext cx="1159371" cy="1231296"/>
              </a:xfrm>
              <a:prstGeom prst="rect">
                <a:avLst/>
              </a:prstGeom>
            </p:spPr>
          </p:pic>
          <p:pic>
            <p:nvPicPr>
              <p:cNvPr id="18" name="그림 17" descr="오른쪽 화살표 - 무료 화살개 아이콘">
                <a:extLst>
                  <a:ext uri="{FF2B5EF4-FFF2-40B4-BE49-F238E27FC236}">
                    <a16:creationId xmlns:a16="http://schemas.microsoft.com/office/drawing/2014/main" id="{EC01F112-4770-53AE-7C83-4A5AD19CB2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r="29165"/>
              <a:stretch>
                <a:fillRect/>
              </a:stretch>
            </p:blipFill>
            <p:spPr>
              <a:xfrm flipH="1">
                <a:off x="2838449" y="3702654"/>
                <a:ext cx="821233" cy="1231296"/>
              </a:xfrm>
              <a:prstGeom prst="rect">
                <a:avLst/>
              </a:prstGeom>
            </p:spPr>
          </p:pic>
          <p:pic>
            <p:nvPicPr>
              <p:cNvPr id="22" name="그림 21" descr="오른쪽 화살표 - 무료 화살개 아이콘">
                <a:extLst>
                  <a:ext uri="{FF2B5EF4-FFF2-40B4-BE49-F238E27FC236}">
                    <a16:creationId xmlns:a16="http://schemas.microsoft.com/office/drawing/2014/main" id="{E08BE1DD-8C11-9E0D-7AF7-8C9D15B4A2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r="29165"/>
              <a:stretch>
                <a:fillRect/>
              </a:stretch>
            </p:blipFill>
            <p:spPr>
              <a:xfrm flipH="1">
                <a:off x="3587203" y="3702654"/>
                <a:ext cx="821233" cy="1231296"/>
              </a:xfrm>
              <a:prstGeom prst="rect">
                <a:avLst/>
              </a:prstGeom>
            </p:spPr>
          </p:pic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6EB1045-FD7E-6F73-7C00-E22BE963F4F7}"/>
              </a:ext>
            </a:extLst>
          </p:cNvPr>
          <p:cNvGrpSpPr/>
          <p:nvPr/>
        </p:nvGrpSpPr>
        <p:grpSpPr>
          <a:xfrm>
            <a:off x="7923101" y="1779466"/>
            <a:ext cx="2378298" cy="2404170"/>
            <a:chOff x="7796216" y="2248656"/>
            <a:chExt cx="2876701" cy="2907995"/>
          </a:xfrm>
        </p:grpSpPr>
        <p:pic>
          <p:nvPicPr>
            <p:cNvPr id="23" name="그림 22" descr="톱니 바퀴 - 무료 화살개 아이콘">
              <a:extLst>
                <a:ext uri="{FF2B5EF4-FFF2-40B4-BE49-F238E27FC236}">
                  <a16:creationId xmlns:a16="http://schemas.microsoft.com/office/drawing/2014/main" id="{4FC05BEF-D1A4-251C-87CB-71C385BC8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7796216" y="2248656"/>
              <a:ext cx="2876701" cy="2907995"/>
            </a:xfrm>
            <a:prstGeom prst="rect">
              <a:avLst/>
            </a:prstGeom>
          </p:spPr>
        </p:pic>
        <p:pic>
          <p:nvPicPr>
            <p:cNvPr id="27" name="그림 26" descr="바퀴 - 무료 수송개 아이콘">
              <a:extLst>
                <a:ext uri="{FF2B5EF4-FFF2-40B4-BE49-F238E27FC236}">
                  <a16:creationId xmlns:a16="http://schemas.microsoft.com/office/drawing/2014/main" id="{7D6EDDC4-C268-0AF1-261C-7BF68C71D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28382" y="2694024"/>
              <a:ext cx="1998209" cy="1998209"/>
            </a:xfrm>
            <a:prstGeom prst="rect">
              <a:avLst/>
            </a:prstGeom>
          </p:spPr>
        </p:pic>
      </p:grpSp>
      <p:pic>
        <p:nvPicPr>
          <p:cNvPr id="29" name="그림 28" descr="image.png">
            <a:extLst>
              <a:ext uri="{FF2B5EF4-FFF2-40B4-BE49-F238E27FC236}">
                <a16:creationId xmlns:a16="http://schemas.microsoft.com/office/drawing/2014/main" id="{5394FDD0-4B91-873C-9914-DD5CAF5B04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00" y="4521199"/>
            <a:ext cx="4656676" cy="1788579"/>
          </a:xfrm>
          <a:prstGeom prst="rect">
            <a:avLst/>
          </a:prstGeom>
        </p:spPr>
      </p:pic>
      <p:pic>
        <p:nvPicPr>
          <p:cNvPr id="32" name="그림 31" descr="image.png">
            <a:extLst>
              <a:ext uri="{FF2B5EF4-FFF2-40B4-BE49-F238E27FC236}">
                <a16:creationId xmlns:a16="http://schemas.microsoft.com/office/drawing/2014/main" id="{0F180A86-D294-E0D6-7657-67F9B745DB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4426" y="4521199"/>
            <a:ext cx="4656676" cy="1788579"/>
          </a:xfrm>
          <a:prstGeom prst="rect">
            <a:avLst/>
          </a:prstGeom>
        </p:spPr>
      </p:pic>
      <p:pic>
        <p:nvPicPr>
          <p:cNvPr id="44" name="그림 43" descr="image.png">
            <a:extLst>
              <a:ext uri="{FF2B5EF4-FFF2-40B4-BE49-F238E27FC236}">
                <a16:creationId xmlns:a16="http://schemas.microsoft.com/office/drawing/2014/main" id="{EB7E2E40-ED93-7F81-0E5C-B85A3E847E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898" y="4521199"/>
            <a:ext cx="4656676" cy="17885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2ACAAEE-7A06-A4BA-83AF-EDC3DA69222A}"/>
              </a:ext>
            </a:extLst>
          </p:cNvPr>
          <p:cNvSpPr txBox="1"/>
          <p:nvPr/>
        </p:nvSpPr>
        <p:spPr>
          <a:xfrm>
            <a:off x="7380812" y="4786397"/>
            <a:ext cx="4508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시티 러쉬의 차량 운행 시스템 </a:t>
            </a:r>
            <a:endParaRPr lang="en-US" altLang="ko-KR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5E7275-8299-C71F-A2B7-220DE9BF0371}"/>
              </a:ext>
            </a:extLst>
          </p:cNvPr>
          <p:cNvSpPr txBox="1"/>
          <p:nvPr/>
        </p:nvSpPr>
        <p:spPr>
          <a:xfrm>
            <a:off x="6858000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실제로 회전하며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지면을 밀어내 차량을 전진시키는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B7D125-D045-5A3E-8240-FA6327EAA269}"/>
              </a:ext>
            </a:extLst>
          </p:cNvPr>
          <p:cNvSpPr txBox="1"/>
          <p:nvPr/>
        </p:nvSpPr>
        <p:spPr>
          <a:xfrm>
            <a:off x="1318688" y="4786397"/>
            <a:ext cx="450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일반 캐주얼 게임의 차량 운행 시스템 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A0434C-8720-A2B1-1F1D-7E3E8913DA56}"/>
              </a:ext>
            </a:extLst>
          </p:cNvPr>
          <p:cNvSpPr txBox="1"/>
          <p:nvPr/>
        </p:nvSpPr>
        <p:spPr>
          <a:xfrm>
            <a:off x="897476" y="5301903"/>
            <a:ext cx="450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바퀴가 움직이는 것이 아닌</a:t>
            </a:r>
            <a:r>
              <a:rPr lang="en-US" altLang="ko-KR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 algn="ctr"/>
            <a:r>
              <a:rPr lang="ko-KR" altLang="en-US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차량의 본체가 앞으로 전진하는 형식</a:t>
            </a:r>
            <a:endParaRPr lang="en-US" altLang="ko-KR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0770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9343-CD6A-01E0-5476-D3E759B1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E44CAA1A-39F3-F900-CB44-C0F59FF96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68D4090-67DE-027D-5AF8-08E598463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8253280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차량 조작 시스템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운행 원리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3855B-321E-8F87-8571-BDB768492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9140825"/>
            <a:ext cx="3667125" cy="4351338"/>
          </a:xfrm>
        </p:spPr>
        <p:txBody>
          <a:bodyPr/>
          <a:lstStyle/>
          <a:p>
            <a:r>
              <a:rPr lang="ko-KR" altLang="en-US" dirty="0"/>
              <a:t>관성에 따른 현실적인 움직임 발생</a:t>
            </a:r>
            <a:endParaRPr lang="en-US" altLang="ko-KR" dirty="0"/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49F3CB30-BDB1-E3AB-B8FF-0D7698505A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-295274" y="5600700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8B1CD3-1838-9181-175B-5144542F6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79124EB-A3BC-41B9-AEF0-08409C943704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D4B6E8-708B-E442-4678-B24F306EF267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C5821D2-8A46-65C0-732A-718473FD28FA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자동차 서스펜션 - 무료 교통개 아이콘">
            <a:extLst>
              <a:ext uri="{FF2B5EF4-FFF2-40B4-BE49-F238E27FC236}">
                <a16:creationId xmlns:a16="http://schemas.microsoft.com/office/drawing/2014/main" id="{E8A53E26-5CF8-9CE6-0C16-FBEB40799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4558" y="1871460"/>
            <a:ext cx="2322884" cy="2421140"/>
          </a:xfrm>
          <a:prstGeom prst="rect">
            <a:avLst/>
          </a:prstGeom>
        </p:spPr>
      </p:pic>
      <p:pic>
        <p:nvPicPr>
          <p:cNvPr id="8" name="그림 7" descr="image.png">
            <a:extLst>
              <a:ext uri="{FF2B5EF4-FFF2-40B4-BE49-F238E27FC236}">
                <a16:creationId xmlns:a16="http://schemas.microsoft.com/office/drawing/2014/main" id="{D1D67559-FF63-D4C3-3150-E7FB1AFC78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1" y="4521199"/>
            <a:ext cx="10515602" cy="17885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D5F870-E12A-A67B-30DF-0BFE0F3F72C9}"/>
              </a:ext>
            </a:extLst>
          </p:cNvPr>
          <p:cNvSpPr txBox="1"/>
          <p:nvPr/>
        </p:nvSpPr>
        <p:spPr>
          <a:xfrm>
            <a:off x="1645028" y="4747186"/>
            <a:ext cx="9999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서스펜션 시스템 </a:t>
            </a: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D3AB90-1DED-F7D7-ED4F-FBED58ED0807}"/>
              </a:ext>
            </a:extLst>
          </p:cNvPr>
          <p:cNvSpPr txBox="1"/>
          <p:nvPr/>
        </p:nvSpPr>
        <p:spPr>
          <a:xfrm>
            <a:off x="1315770" y="5323151"/>
            <a:ext cx="9999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</a:t>
            </a:r>
            <a:r>
              <a:rPr lang="ko-KR" altLang="en-US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동축을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연동 및 관리하는 서스펜션 매니저를 도입해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관성에 따른 현실적인 움직임 구현 가능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665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8DC4-44F4-706C-D3AD-16B1A9A9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image.png">
            <a:extLst>
              <a:ext uri="{FF2B5EF4-FFF2-40B4-BE49-F238E27FC236}">
                <a16:creationId xmlns:a16="http://schemas.microsoft.com/office/drawing/2014/main" id="{2FE6B51A-39CB-1A6F-7B32-276860DE2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9524"/>
            <a:ext cx="12192000" cy="68579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1FB0F36-83EE-DDB1-E66E-35407BB0C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476" y="631050"/>
            <a:ext cx="8253280" cy="883218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차량 조작 시스템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– 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운행 원리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03BEB1-F6EF-F92F-5D33-2E8690F71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450" y="7489049"/>
            <a:ext cx="3667125" cy="4351338"/>
          </a:xfrm>
        </p:spPr>
        <p:txBody>
          <a:bodyPr/>
          <a:lstStyle/>
          <a:p>
            <a:pPr lvl="1"/>
            <a:r>
              <a:rPr lang="en-US" altLang="ko-KR" dirty="0"/>
              <a:t>4</a:t>
            </a:r>
            <a:r>
              <a:rPr lang="ko-KR" altLang="en-US" dirty="0" err="1"/>
              <a:t>륜구동</a:t>
            </a:r>
            <a:r>
              <a:rPr lang="ko-KR" altLang="en-US" dirty="0"/>
              <a:t> </a:t>
            </a:r>
            <a:r>
              <a:rPr lang="en-US" altLang="ko-KR" dirty="0"/>
              <a:t>– 4</a:t>
            </a:r>
            <a:r>
              <a:rPr lang="ko-KR" altLang="en-US" dirty="0"/>
              <a:t>개의 바퀴가 함께 움직임</a:t>
            </a:r>
            <a:endParaRPr lang="en-US" altLang="ko-KR" dirty="0"/>
          </a:p>
          <a:p>
            <a:pPr lvl="1"/>
            <a:r>
              <a:rPr lang="ko-KR" altLang="en-US" dirty="0"/>
              <a:t>바퀴 한두개가 끼어도 탈출 가능</a:t>
            </a:r>
          </a:p>
        </p:txBody>
      </p:sp>
      <p:pic>
        <p:nvPicPr>
          <p:cNvPr id="7" name="그림 6" descr="3,700개 이상의 자동차 충돌 실험용 인형 이미지 스톡 사진, 그림 및 Royalty-Free 이미지 - iStock">
            <a:extLst>
              <a:ext uri="{FF2B5EF4-FFF2-40B4-BE49-F238E27FC236}">
                <a16:creationId xmlns:a16="http://schemas.microsoft.com/office/drawing/2014/main" id="{8498112F-6ED8-6BD1-FB70-3F7E18DD43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98" b="67616"/>
          <a:stretch>
            <a:fillRect/>
          </a:stretch>
        </p:blipFill>
        <p:spPr>
          <a:xfrm>
            <a:off x="-295274" y="5600700"/>
            <a:ext cx="216251" cy="2202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A3A318-B9EA-AE51-83D6-4149571D1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90478" y="228582"/>
            <a:ext cx="304843" cy="24768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BDB5FCE-FE16-142A-8C31-3D02147EC734}"/>
              </a:ext>
            </a:extLst>
          </p:cNvPr>
          <p:cNvSpPr/>
          <p:nvPr/>
        </p:nvSpPr>
        <p:spPr>
          <a:xfrm>
            <a:off x="993025" y="903114"/>
            <a:ext cx="350520" cy="262890"/>
          </a:xfrm>
          <a:prstGeom prst="roundRect">
            <a:avLst>
              <a:gd name="adj" fmla="val 3297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Segoe UI Black" panose="020B0A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85CE5F-F9D9-6CE9-6532-3D7A9945C18E}"/>
              </a:ext>
            </a:extLst>
          </p:cNvPr>
          <p:cNvSpPr txBox="1"/>
          <p:nvPr/>
        </p:nvSpPr>
        <p:spPr>
          <a:xfrm>
            <a:off x="1013233" y="852363"/>
            <a:ext cx="536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  <a:endParaRPr lang="ko-KR" altLang="en-US" dirty="0">
              <a:solidFill>
                <a:schemeClr val="bg1"/>
              </a:solidFill>
              <a:latin typeface="Segoe UI Black" panose="020B0A02040204020203" pitchFamily="34" charset="0"/>
            </a:endParaRPr>
          </a:p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37534C5-844D-1557-224A-7AFF8927FA23}"/>
              </a:ext>
            </a:extLst>
          </p:cNvPr>
          <p:cNvSpPr/>
          <p:nvPr/>
        </p:nvSpPr>
        <p:spPr>
          <a:xfrm>
            <a:off x="7058103" y="7491482"/>
            <a:ext cx="4352925" cy="35528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image.png">
            <a:extLst>
              <a:ext uri="{FF2B5EF4-FFF2-40B4-BE49-F238E27FC236}">
                <a16:creationId xmlns:a16="http://schemas.microsoft.com/office/drawing/2014/main" id="{A15D6FFE-517F-ECC3-35BD-55AAC10FD3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7500" y="2048317"/>
            <a:ext cx="5943603" cy="42614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EB71BB-6ECE-A919-EC60-57926E38FB13}"/>
              </a:ext>
            </a:extLst>
          </p:cNvPr>
          <p:cNvSpPr txBox="1"/>
          <p:nvPr/>
        </p:nvSpPr>
        <p:spPr>
          <a:xfrm>
            <a:off x="5802958" y="2564683"/>
            <a:ext cx="9999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사륜구동 시스템</a:t>
            </a: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C2E505-688D-E0F8-D0FB-38467ADA1C46}"/>
              </a:ext>
            </a:extLst>
          </p:cNvPr>
          <p:cNvSpPr txBox="1"/>
          <p:nvPr/>
        </p:nvSpPr>
        <p:spPr>
          <a:xfrm>
            <a:off x="5802959" y="3346734"/>
            <a:ext cx="5309542" cy="1423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4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개의 바퀴가 전륜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</a:t>
            </a:r>
            <a:r>
              <a:rPr lang="ko-KR" altLang="en-US" sz="2000" dirty="0" err="1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후륜으로</a:t>
            </a: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함께 움직여</a:t>
            </a:r>
            <a:r>
              <a:rPr lang="en-US" altLang="ko-KR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바퀴 한두개가 끼이거나 작동이 불가능해도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차량 운행이 가능</a:t>
            </a:r>
            <a:endParaRPr lang="en-US" altLang="ko-KR" sz="2000" dirty="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pic>
        <p:nvPicPr>
          <p:cNvPr id="5" name="그림 4" descr="4WD 구동 경고등 - 경고등닷컴 by 쏘카">
            <a:extLst>
              <a:ext uri="{FF2B5EF4-FFF2-40B4-BE49-F238E27FC236}">
                <a16:creationId xmlns:a16="http://schemas.microsoft.com/office/drawing/2014/main" id="{96E81FA4-F16D-73E9-4DE5-9C7AECE388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1395" y="2564683"/>
            <a:ext cx="3809972" cy="305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8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183</Words>
  <Application>Microsoft Office PowerPoint</Application>
  <PresentationFormat>와이드스크린</PresentationFormat>
  <Paragraphs>54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Noto Sans KR</vt:lpstr>
      <vt:lpstr>Noto Sans KR Black</vt:lpstr>
      <vt:lpstr>Noto Sans KR DemiLight</vt:lpstr>
      <vt:lpstr>Noto Sans KR Light</vt:lpstr>
      <vt:lpstr>맑은 고딕</vt:lpstr>
      <vt:lpstr>Arial</vt:lpstr>
      <vt:lpstr>Segoe UI Black</vt:lpstr>
      <vt:lpstr>Office 테마</vt:lpstr>
      <vt:lpstr>Cebu(관광지아님) 기획서</vt:lpstr>
      <vt:lpstr>목차</vt:lpstr>
      <vt:lpstr>기획 구조 – 문서 구조</vt:lpstr>
      <vt:lpstr>차량 조작 시스템 – 운행 원리</vt:lpstr>
      <vt:lpstr>차량 조작 시스템 – 운행 원리</vt:lpstr>
      <vt:lpstr>차량 조작 시스템 – 운행 원리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2026-07-13T07:42:30Z</dcterms:created>
  <dcterms:modified xsi:type="dcterms:W3CDTF">2026-07-13T07:51:43Z</dcterms:modified>
</cp:coreProperties>
</file>